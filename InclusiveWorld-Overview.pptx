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12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326880" y="-12801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6E0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07040" y="4206240"/>
            <a:ext cx="3291840" cy="3291840"/>
          </a:xfrm>
          <a:prstGeom prst="roundRect">
            <a:avLst>
              <a:gd name="adj" fmla="val 50000"/>
            </a:avLst>
          </a:prstGeom>
          <a:solidFill>
            <a:srgbClr val="6E0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914400" cy="128016"/>
          </a:xfrm>
          <a:prstGeom prst="roundRect">
            <a:avLst>
              <a:gd name="adj" fmla="val 50000"/>
            </a:avLst>
          </a:prstGeom>
          <a:solidFill>
            <a:srgbClr val="F7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7E4EA"/>
                </a:solidFill>
                <a:latin typeface="Calibri"/>
              </a:rPr>
              <a:t>PRODUCT &amp; ENGINEERING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Inclusive</a:t>
            </a:r>
            <a:r>
              <a:rPr sz="6000" b="1" i="0">
                <a:solidFill>
                  <a:srgbClr val="F7E4EA"/>
                </a:solidFill>
                <a:latin typeface="Calibri"/>
              </a:rPr>
              <a:t>World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1">
                <a:solidFill>
                  <a:srgbClr val="FFFFFF"/>
                </a:solidFill>
                <a:latin typeface="Calibri"/>
              </a:rPr>
              <a:t>Where Abilities Lead the 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7E4EA"/>
                </a:solidFill>
                <a:latin typeface="Calibri"/>
              </a:rPr>
              <a:t>An accessibility-first learning platform — classrooms, lessons, assignments, quizzes, and gentle gamification, built for every learner.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806440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6E0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115214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Next.js 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39696" y="5806440"/>
            <a:ext cx="972921" cy="384048"/>
          </a:xfrm>
          <a:prstGeom prst="roundRect">
            <a:avLst>
              <a:gd name="adj" fmla="val 50000"/>
            </a:avLst>
          </a:prstGeom>
          <a:solidFill>
            <a:srgbClr val="6E0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9696" y="5806440"/>
            <a:ext cx="97292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React 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77209" y="5806440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6E0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7209" y="5806440"/>
            <a:ext cx="115214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TypeScript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93945" y="5806440"/>
            <a:ext cx="1779422" cy="384048"/>
          </a:xfrm>
          <a:prstGeom prst="roundRect">
            <a:avLst>
              <a:gd name="adj" fmla="val 50000"/>
            </a:avLst>
          </a:prstGeom>
          <a:solidFill>
            <a:srgbClr val="6E0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3945" y="5806440"/>
            <a:ext cx="177942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Prisma + Postgres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59" y="5806440"/>
            <a:ext cx="1241755" cy="384048"/>
          </a:xfrm>
          <a:prstGeom prst="roundRect">
            <a:avLst>
              <a:gd name="adj" fmla="val 50000"/>
            </a:avLst>
          </a:prstGeom>
          <a:solidFill>
            <a:srgbClr val="6E0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5806440"/>
            <a:ext cx="12417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Tailwind v4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44306" y="5806440"/>
            <a:ext cx="793699" cy="384048"/>
          </a:xfrm>
          <a:prstGeom prst="roundRect">
            <a:avLst>
              <a:gd name="adj" fmla="val 50000"/>
            </a:avLst>
          </a:prstGeom>
          <a:solidFill>
            <a:srgbClr val="6E0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44306" y="5806440"/>
            <a:ext cx="79369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Vercel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28016" cy="475488"/>
          </a:xfrm>
          <a:prstGeom prst="roundRect">
            <a:avLst>
              <a:gd name="adj" fmla="val 50000"/>
            </a:avLst>
          </a:prstGeom>
          <a:solidFill>
            <a:srgbClr val="9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0896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9E123C"/>
                </a:solidFill>
                <a:latin typeface="Calibr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</a:rPr>
              <a:t>What this deck covers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91695" cy="25400"/>
          </a:xfrm>
          <a:prstGeom prst="rect">
            <a:avLst/>
          </a:prstGeom>
          <a:solidFill>
            <a:srgbClr val="F7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78308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F7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78308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9E123C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801368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The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20370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What InclusiveWorld is &amp; who it serves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0020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73952" y="178308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F7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8308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9E123C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801368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Technology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20370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Framework, data, styling, infra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07792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" y="3090672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F7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090672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9E123C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10896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51129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How data flows through the app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907792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73952" y="3090672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F7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3090672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9E123C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10896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Core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51129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Classrooms, lessons, assignments, quizzes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215384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2" y="4398264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F7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398264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9E123C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441655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Grades &amp; Gamification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81888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Scores, trophies &amp; the pet/XP system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4215384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73952" y="4398264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F7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4398264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9E123C"/>
                </a:solidFill>
                <a:latin typeface="Calibr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41655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Accessibility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81888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Read-aloud, reading settings, themes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22976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4672" y="5705856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F7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705856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9E123C"/>
                </a:solidFill>
                <a:latin typeface="Calibri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45920" y="5724144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Daily Surprise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45920" y="61264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The login engagement feature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5522976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73952" y="5705856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F7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73952" y="5705856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9E123C"/>
                </a:solidFill>
                <a:latin typeface="Calibri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5724144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Directory Structure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61264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Where the code lives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CA3A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28016" cy="475488"/>
          </a:xfrm>
          <a:prstGeom prst="roundRect">
            <a:avLst>
              <a:gd name="adj" fmla="val 50000"/>
            </a:avLst>
          </a:prstGeom>
          <a:solidFill>
            <a:srgbClr val="9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0896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9E123C"/>
                </a:solidFill>
                <a:latin typeface="Calibri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</a:rPr>
              <a:t>The Product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91695" cy="25400"/>
          </a:xfrm>
          <a:prstGeom prst="rect">
            <a:avLst/>
          </a:prstGeom>
          <a:solidFill>
            <a:srgbClr val="F7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InclusiveWorld is a classroom learning platform designed so that reading level, processing speed, or focus never block a student from learning. Teachers run classes; students learn with supports baked 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82296" cy="3566160"/>
          </a:xfrm>
          <a:prstGeom prst="roundRect">
            <a:avLst>
              <a:gd name="adj" fmla="val 50000"/>
            </a:avLst>
          </a:prstGeom>
          <a:solidFill>
            <a:srgbClr val="3B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660904"/>
            <a:ext cx="3108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For Teachers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3B6FB0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Create classrooms with a join code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3B6FB0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Build lessons, assignments &amp; quizzes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3B6FB0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Grade work &amp; leave written feedback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3B6FB0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Invite co-teachers, manage the roster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51460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2514600"/>
            <a:ext cx="82296" cy="356616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660904"/>
            <a:ext cx="3108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For Students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6D28D9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Join classes, work through lessons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6D28D9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Turn in assignments, take quizzes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6D28D9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Track grades, trophies &amp; progress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6D28D9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Grow a pet buddy by doing the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51460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2514600"/>
            <a:ext cx="82296" cy="356616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660904"/>
            <a:ext cx="3108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Always On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0F766E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Read-aloud on any content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0F766E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Adjustable text size, spacing &amp; font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0F766E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Kid-friendly visual themes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0F766E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A daily surprise at every login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CA3A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28016" cy="475488"/>
          </a:xfrm>
          <a:prstGeom prst="roundRect">
            <a:avLst>
              <a:gd name="adj" fmla="val 50000"/>
            </a:avLst>
          </a:prstGeom>
          <a:solidFill>
            <a:srgbClr val="9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0896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9E123C"/>
                </a:solidFill>
                <a:latin typeface="Calibri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91695" cy="25400"/>
          </a:xfrm>
          <a:prstGeom prst="rect">
            <a:avLst/>
          </a:prstGeom>
          <a:solidFill>
            <a:srgbClr val="F7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82296" cy="2286000"/>
          </a:xfrm>
          <a:prstGeom prst="roundRect">
            <a:avLst>
              <a:gd name="adj" fmla="val 50000"/>
            </a:avLst>
          </a:prstGeom>
          <a:solidFill>
            <a:srgbClr val="3B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00784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Framework &amp; Runtime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3B6FB0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Next.js 16 — App Router + Turbopack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3B6FB0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React 19 · TypeScript 5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3B6FB0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Server Components &amp; Server Actions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3B6FB0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Node.js on Vercel Fluid Compute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554480"/>
            <a:ext cx="82296" cy="2286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700784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Data Layer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0F766E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Prisma 6 ORM + typed client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0F766E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PostgreSQL via Neon (serverless)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0F766E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12 models, migrations &amp; seed script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0F766E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“Derive, never store” philosophy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82296" cy="2286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700784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Auth &amp; Storage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B45309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NextAuth v5 — JWT sessions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B45309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Credentials + bcrypt hashing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B45309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Vercel Blob for file/avatar uploads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B45309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Role-based route guards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41648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4041648"/>
            <a:ext cx="82296" cy="22860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187952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UI &amp; Styling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6D28D9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Tailwind CSS v4 + brand tokens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6D28D9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In-house UI primitives (no lib)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6D28D9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lucide-react icons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6D28D9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clsx + tailwind-merge (cn helper)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4041648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43400" y="4041648"/>
            <a:ext cx="82296" cy="228600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4187952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Accessibility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5803D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Web SpeechSynthesis read-aloud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5803D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Per-user reading preferences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5803D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6 switchable visual themes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5803D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Applied via CSS variables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041648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0" y="4041648"/>
            <a:ext cx="82296" cy="2286000"/>
          </a:xfrm>
          <a:prstGeom prst="roundRect">
            <a:avLst>
              <a:gd name="adj" fmla="val 50000"/>
            </a:avLst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4187952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Tooling &amp; Deploy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BE185D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ESLint 9 (+ React Hooks rules)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BE185D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tsx script runner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BE185D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Vercel CI/CD &amp; hosting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BE185D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Live at inclusiveworld.vercel.app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CA3A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28016" cy="475488"/>
          </a:xfrm>
          <a:prstGeom prst="roundRect">
            <a:avLst>
              <a:gd name="adj" fmla="val 50000"/>
            </a:avLst>
          </a:prstGeom>
          <a:solidFill>
            <a:srgbClr val="9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0896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9E123C"/>
                </a:solidFill>
                <a:latin typeface="Calibri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</a:rPr>
              <a:t>Architecture — how a request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91695" cy="25400"/>
          </a:xfrm>
          <a:prstGeom prst="rect">
            <a:avLst/>
          </a:prstGeom>
          <a:solidFill>
            <a:srgbClr val="F7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2148840"/>
            <a:ext cx="196596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148840"/>
            <a:ext cx="1965960" cy="457200"/>
          </a:xfrm>
          <a:prstGeom prst="roundRect">
            <a:avLst>
              <a:gd name="adj" fmla="val 9000"/>
            </a:avLst>
          </a:prstGeom>
          <a:solidFill>
            <a:srgbClr val="3B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377440"/>
            <a:ext cx="1965960" cy="228600"/>
          </a:xfrm>
          <a:prstGeom prst="rect">
            <a:avLst/>
          </a:prstGeom>
          <a:solidFill>
            <a:srgbClr val="3B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148840"/>
            <a:ext cx="1965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Server Component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715768"/>
            <a:ext cx="1783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page.tsx loads data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behind requireUser()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51176" y="2715768"/>
            <a:ext cx="256032" cy="365760"/>
          </a:xfrm>
          <a:prstGeom prst="rightArrow">
            <a:avLst/>
          </a:prstGeom>
          <a:solidFill>
            <a:srgbClr val="9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25496" y="2148840"/>
            <a:ext cx="196596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25496" y="2148840"/>
            <a:ext cx="1965960" cy="457200"/>
          </a:xfrm>
          <a:prstGeom prst="roundRect">
            <a:avLst>
              <a:gd name="adj" fmla="val 9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25496" y="2377440"/>
            <a:ext cx="1965960" cy="2286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25496" y="2148840"/>
            <a:ext cx="1965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Data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6936" y="2715768"/>
            <a:ext cx="1783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lib/queries.ts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Prisma → Postgres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09744" y="2715768"/>
            <a:ext cx="256032" cy="365760"/>
          </a:xfrm>
          <a:prstGeom prst="rightArrow">
            <a:avLst/>
          </a:prstGeom>
          <a:solidFill>
            <a:srgbClr val="9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84064" y="2148840"/>
            <a:ext cx="196596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84064" y="2148840"/>
            <a:ext cx="1965960" cy="457200"/>
          </a:xfrm>
          <a:prstGeom prst="roundRect">
            <a:avLst>
              <a:gd name="adj" fmla="val 9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4064" y="2377440"/>
            <a:ext cx="1965960" cy="2286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84064" y="2148840"/>
            <a:ext cx="1965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Server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5504" y="2715768"/>
            <a:ext cx="1783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actions.ts mutate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(create / grade / submit)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68312" y="2715768"/>
            <a:ext cx="256032" cy="365760"/>
          </a:xfrm>
          <a:prstGeom prst="rightArrow">
            <a:avLst/>
          </a:prstGeom>
          <a:solidFill>
            <a:srgbClr val="9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42632" y="2148840"/>
            <a:ext cx="196596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42632" y="2148840"/>
            <a:ext cx="1965960" cy="457200"/>
          </a:xfrm>
          <a:prstGeom prst="roundRect">
            <a:avLst>
              <a:gd name="adj" fmla="val 9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42632" y="2377440"/>
            <a:ext cx="1965960" cy="2286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42632" y="2148840"/>
            <a:ext cx="1965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Client Island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4072" y="2715768"/>
            <a:ext cx="1783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“use client” views,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modals, interactivity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26880" y="2715768"/>
            <a:ext cx="256032" cy="365760"/>
          </a:xfrm>
          <a:prstGeom prst="rightArrow">
            <a:avLst/>
          </a:prstGeom>
          <a:solidFill>
            <a:srgbClr val="9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01200" y="2148840"/>
            <a:ext cx="196596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01200" y="2148840"/>
            <a:ext cx="1965960" cy="457200"/>
          </a:xfrm>
          <a:prstGeom prst="roundRect">
            <a:avLst>
              <a:gd name="adj" fmla="val 9000"/>
            </a:avLst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01200" y="2377440"/>
            <a:ext cx="1965960" cy="228600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0" y="2148840"/>
            <a:ext cx="1965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UI Primitives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715768"/>
            <a:ext cx="1783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components/ui —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consistent &amp; accessible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343400"/>
            <a:ext cx="1092708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0080" y="4343400"/>
            <a:ext cx="109728" cy="1737360"/>
          </a:xfrm>
          <a:prstGeom prst="roundRect">
            <a:avLst>
              <a:gd name="adj" fmla="val 50000"/>
            </a:avLst>
          </a:prstGeom>
          <a:solidFill>
            <a:srgbClr val="9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455371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Guiding principle:  </a:t>
            </a:r>
            <a:r>
              <a:rPr sz="1600" b="1" i="1">
                <a:solidFill>
                  <a:srgbClr val="9E123C"/>
                </a:solidFill>
                <a:latin typeface="Calibri"/>
              </a:rPr>
              <a:t>“Derive, never store”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029200"/>
            <a:ext cx="104241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XP, grade averages, trends, and to-do status are all computed live from the primary records (submissions, quiz attempts, lesson progress) — never cached in their own columns. Nothing can fall out of sync, and there is no reconciliation code to maintain.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CA3A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28016" cy="475488"/>
          </a:xfrm>
          <a:prstGeom prst="roundRect">
            <a:avLst>
              <a:gd name="adj" fmla="val 50000"/>
            </a:avLst>
          </a:prstGeom>
          <a:solidFill>
            <a:srgbClr val="9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0896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9E123C"/>
                </a:solidFill>
                <a:latin typeface="Calibri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</a:rPr>
              <a:t>Core Features — teaching &amp;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91695" cy="25400"/>
          </a:xfrm>
          <a:prstGeom prst="rect">
            <a:avLst/>
          </a:prstGeom>
          <a:solidFill>
            <a:srgbClr val="F7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82296" cy="2286000"/>
          </a:xfrm>
          <a:prstGeom prst="roundRect">
            <a:avLst>
              <a:gd name="adj" fmla="val 50000"/>
            </a:avLst>
          </a:prstGeom>
          <a:solidFill>
            <a:srgbClr val="3B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00784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Classrooms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3B6FB0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Teacher creates: name, subject, emoji/color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3B6FB0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Auto-generated 8-char join code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3B6FB0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Students join with the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554480"/>
            <a:ext cx="82296" cy="2286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700784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Lessons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0F766E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Link or uploaded file (→ Vercel Blob)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0F766E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Checklist of steps + time estimate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0F766E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Students tick steps &amp; mark complete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82296" cy="2286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700784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Assignments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B45309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Points + optional due date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B45309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New assignment notifies all students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B45309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Submit → teacher grades + feedback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41648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4041648"/>
            <a:ext cx="82296" cy="22860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187952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Quizzes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6D28D9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Teacher authors questions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6D28D9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Auto-graded on submit (correct / total)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6D28D9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Every attempt counts immediately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4041648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43400" y="4041648"/>
            <a:ext cx="82296" cy="228600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4187952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To-Do — “What’s left”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5803D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Cross-class rollup of what’s owed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5803D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Sorted soonest-due first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5803D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Overdue / soon / later tones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041648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0" y="4041648"/>
            <a:ext cx="82296" cy="2286000"/>
          </a:xfrm>
          <a:prstGeom prst="roundRect">
            <a:avLst>
              <a:gd name="adj" fmla="val 50000"/>
            </a:avLst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4187952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People &amp; Roster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BE185D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View &amp; manage class members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BE185D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Invite co-teachers by email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BE185D"/>
                </a:solidFill>
                <a:latin typeface="Calibri"/>
              </a:rPr>
              <a:t>•  </a:t>
            </a:r>
            <a:r>
              <a:rPr sz="1150">
                <a:solidFill>
                  <a:srgbClr val="6B7280"/>
                </a:solidFill>
                <a:latin typeface="Calibri"/>
              </a:rPr>
              <a:t>Pending invites link on join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CA3A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28016" cy="475488"/>
          </a:xfrm>
          <a:prstGeom prst="roundRect">
            <a:avLst>
              <a:gd name="adj" fmla="val 50000"/>
            </a:avLst>
          </a:prstGeom>
          <a:solidFill>
            <a:srgbClr val="9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0896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9E123C"/>
                </a:solidFill>
                <a:latin typeface="Calibri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</a:rPr>
              <a:t>Grades &amp; Gamification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91695" cy="25400"/>
          </a:xfrm>
          <a:prstGeom prst="rect">
            <a:avLst/>
          </a:prstGeom>
          <a:solidFill>
            <a:srgbClr val="F7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39496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82296" cy="2148840"/>
          </a:xfrm>
          <a:prstGeom prst="roundRect">
            <a:avLst>
              <a:gd name="adj" fmla="val 50000"/>
            </a:avLst>
          </a:prstGeom>
          <a:solidFill>
            <a:srgbClr val="3B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00784"/>
            <a:ext cx="4937760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Scores, Grades &amp; Trophies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3B6FB0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All classes on a fair 0–100 scale (raw shown too)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3B6FB0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Letter grades A–F, per-class averages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3B6FB0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Trends derived live from grade timestamps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3B6FB0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Trophies: 🔥 streak · 📈 most-improved · 🎯 perfect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886200"/>
            <a:ext cx="82296" cy="219456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0690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2937"/>
                </a:solidFill>
                <a:latin typeface="Calibri"/>
              </a:rPr>
              <a:t>Gentle by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48056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No trophy ever compares a student to classmates. When a class average dips, the buddy responds only with encouragement plus a couple of low-stakes things to revisit — never disappointment.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554480"/>
            <a:ext cx="539496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200" y="1554480"/>
            <a:ext cx="82296" cy="21488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1700784"/>
            <a:ext cx="4937760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“My Buddy” — the Pet / XP System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6D28D9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Custom species, color &amp; name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6D28D9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XP derived live from real work done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6D28D9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Step +5 · Lesson +20 · Assignment +25 · Quiz +15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6D28D9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The buddy’s level never drops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88620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0416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2937"/>
                </a:solidFill>
                <a:latin typeface="Calibri"/>
              </a:rPr>
              <a:t>Five growth stages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532180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7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550468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2937"/>
                </a:solidFill>
                <a:latin typeface="Calibri"/>
              </a:rPr>
              <a:t>Tiny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72414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0 xp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24928" y="5221224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F7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87768" y="5504688"/>
            <a:ext cx="877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2937"/>
                </a:solidFill>
                <a:latin typeface="Calibri"/>
              </a:rPr>
              <a:t>Little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7768" y="5724144"/>
            <a:ext cx="877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40 xp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49056" y="5120640"/>
            <a:ext cx="704088" cy="704088"/>
          </a:xfrm>
          <a:prstGeom prst="roundRect">
            <a:avLst>
              <a:gd name="adj" fmla="val 50000"/>
            </a:avLst>
          </a:prstGeom>
          <a:solidFill>
            <a:srgbClr val="F7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11896" y="5504688"/>
            <a:ext cx="978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2937"/>
                </a:solidFill>
                <a:latin typeface="Calibri"/>
              </a:rPr>
              <a:t>Growing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5724144"/>
            <a:ext cx="978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100 xp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73184" y="5020056"/>
            <a:ext cx="804672" cy="804672"/>
          </a:xfrm>
          <a:prstGeom prst="roundRect">
            <a:avLst>
              <a:gd name="adj" fmla="val 50000"/>
            </a:avLst>
          </a:prstGeom>
          <a:solidFill>
            <a:srgbClr val="F7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36024" y="5504688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2937"/>
                </a:solidFill>
                <a:latin typeface="Calibri"/>
              </a:rPr>
              <a:t>Big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6024" y="5724144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200 xp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97312" y="4919472"/>
            <a:ext cx="905256" cy="905256"/>
          </a:xfrm>
          <a:prstGeom prst="roundRect">
            <a:avLst>
              <a:gd name="adj" fmla="val 50000"/>
            </a:avLst>
          </a:prstGeom>
          <a:solidFill>
            <a:srgbClr val="F7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60152" y="5504688"/>
            <a:ext cx="11795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2937"/>
                </a:solidFill>
                <a:latin typeface="Calibri"/>
              </a:rPr>
              <a:t>Mega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0152" y="5724144"/>
            <a:ext cx="11795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350 xp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CA3A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28016" cy="475488"/>
          </a:xfrm>
          <a:prstGeom prst="roundRect">
            <a:avLst>
              <a:gd name="adj" fmla="val 50000"/>
            </a:avLst>
          </a:prstGeom>
          <a:solidFill>
            <a:srgbClr val="9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0896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9E123C"/>
                </a:solidFill>
                <a:latin typeface="Calibri"/>
              </a:rPr>
              <a:t>SECTIONS 06 &amp;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</a:rPr>
              <a:t>Accessibility &amp; Daily Surprise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91695" cy="25400"/>
          </a:xfrm>
          <a:prstGeom prst="rect">
            <a:avLst/>
          </a:prstGeom>
          <a:solidFill>
            <a:srgbClr val="F7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52044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82296" cy="448056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00784"/>
            <a:ext cx="30632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Read-Aloud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0F766E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“Read to me” on lessons, tasks &amp; surprises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0F766E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Browser SpeechSynthesis — offline &amp; free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0F766E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Slightly slowed rate for young readers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0F766E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One utterance plays at a time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0F766E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No network, no cost, no API keys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2044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554480"/>
            <a:ext cx="82296" cy="448056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700784"/>
            <a:ext cx="30632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Reading Settings &amp; Themes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6D28D9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Text scale: normal / large / x-large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6D28D9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Line spacing: normal / relaxed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6D28D9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Dyslexia-friendly font option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6D28D9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Saved per user, applied via CSS vars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6D28D9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6 themes: Inclusive World, Cars,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6D28D9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Animals, Magic, Space, Ocean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52044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82296" cy="4480560"/>
          </a:xfrm>
          <a:prstGeom prst="roundRect">
            <a:avLst>
              <a:gd name="adj" fmla="val 50000"/>
            </a:avLst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700784"/>
            <a:ext cx="30632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Daily Surprise  ✨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BE185D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A cheerful banner at every login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BE185D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Fun fact · joke · animal · Python · riddle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BE185D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One per login; new each time you sign in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BE185D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Never repeats the previous login’s pick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BE185D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Reveal answers + read-aloud + dismiss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BE185D"/>
                </a:solidFill>
                <a:latin typeface="Calibri"/>
              </a:rPr>
              <a:t>•  </a:t>
            </a:r>
            <a:r>
              <a:rPr sz="1250">
                <a:solidFill>
                  <a:srgbClr val="6B7280"/>
                </a:solidFill>
                <a:latin typeface="Calibri"/>
              </a:rPr>
              <a:t>“Surprise me!” shuffles on demand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CA3A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28016" cy="475488"/>
          </a:xfrm>
          <a:prstGeom prst="roundRect">
            <a:avLst>
              <a:gd name="adj" fmla="val 50000"/>
            </a:avLst>
          </a:prstGeom>
          <a:solidFill>
            <a:srgbClr val="9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0896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9E123C"/>
                </a:solidFill>
                <a:latin typeface="Calibri"/>
              </a:rPr>
              <a:t>SECTION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</a:rPr>
              <a:t>Directory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91695" cy="25400"/>
          </a:xfrm>
          <a:prstGeom prst="rect">
            <a:avLst/>
          </a:prstGeom>
          <a:solidFill>
            <a:srgbClr val="F7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10927080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F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64208"/>
            <a:ext cx="1042416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300" b="1">
                <a:solidFill>
                  <a:srgbClr val="9E123C"/>
                </a:solidFill>
                <a:latin typeface="Consolas"/>
              </a:rPr>
              <a:t>app/</a:t>
            </a:r>
            <a:r>
              <a:rPr sz="1150">
                <a:solidFill>
                  <a:srgbClr val="1F2937"/>
                </a:solidFill>
                <a:latin typeface="Calibri"/>
              </a:rPr>
              <a:t>   Routes (App Router) — pages, layouts, server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52244"/>
            <a:ext cx="1042416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0">
                <a:solidFill>
                  <a:srgbClr val="3B6FB0"/>
                </a:solidFill>
                <a:latin typeface="Consolas"/>
              </a:rPr>
              <a:t>   (auth)/</a:t>
            </a:r>
            <a:r>
              <a:rPr sz="1100">
                <a:solidFill>
                  <a:srgbClr val="6B7280"/>
                </a:solidFill>
                <a:latin typeface="Calibri"/>
              </a:rPr>
              <a:t>   login · register · auth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7"/>
            <a:ext cx="1042416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0">
                <a:solidFill>
                  <a:srgbClr val="3B6FB0"/>
                </a:solidFill>
                <a:latin typeface="Consolas"/>
              </a:rPr>
              <a:t>   dashboard/</a:t>
            </a:r>
            <a:r>
              <a:rPr sz="1100">
                <a:solidFill>
                  <a:srgbClr val="6B7280"/>
                </a:solidFill>
                <a:latin typeface="Calibri"/>
              </a:rPr>
              <a:t>   home · daily-surprise · scoreboard · modals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73450"/>
            <a:ext cx="1042416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0">
                <a:solidFill>
                  <a:srgbClr val="3B6FB0"/>
                </a:solidFill>
                <a:latin typeface="Consolas"/>
              </a:rPr>
              <a:t>   (global)/</a:t>
            </a:r>
            <a:r>
              <a:rPr sz="1100">
                <a:solidFill>
                  <a:srgbClr val="6B7280"/>
                </a:solidFill>
                <a:latin typeface="Calibri"/>
              </a:rPr>
              <a:t>   pet · profile · scores · todo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34053"/>
            <a:ext cx="1042416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0">
                <a:solidFill>
                  <a:srgbClr val="3B6FB0"/>
                </a:solidFill>
                <a:latin typeface="Consolas"/>
              </a:rPr>
              <a:t>   classroom/[id]/</a:t>
            </a:r>
            <a:r>
              <a:rPr sz="1100">
                <a:solidFill>
                  <a:srgbClr val="6B7280"/>
                </a:solidFill>
                <a:latin typeface="Calibri"/>
              </a:rPr>
              <a:t>   (shell): lessons · assignments · quizzes · people · lesson runner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94656"/>
            <a:ext cx="1042416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0">
                <a:solidFill>
                  <a:srgbClr val="3B6FB0"/>
                </a:solidFill>
                <a:latin typeface="Consolas"/>
              </a:rPr>
              <a:t>   api/</a:t>
            </a:r>
            <a:r>
              <a:rPr sz="1100">
                <a:solidFill>
                  <a:srgbClr val="6B7280"/>
                </a:solidFill>
                <a:latin typeface="Calibri"/>
              </a:rPr>
              <a:t>   NextAuth handlers · Blob upload endpoint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55259"/>
            <a:ext cx="1042416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300" b="1">
                <a:solidFill>
                  <a:srgbClr val="9E123C"/>
                </a:solidFill>
                <a:latin typeface="Consolas"/>
              </a:rPr>
              <a:t>components/</a:t>
            </a:r>
            <a:r>
              <a:rPr sz="1150">
                <a:solidFill>
                  <a:srgbClr val="1F2937"/>
                </a:solidFill>
                <a:latin typeface="Calibri"/>
              </a:rPr>
              <a:t>   Reusable UI — no external component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43295"/>
            <a:ext cx="1042416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0">
                <a:solidFill>
                  <a:srgbClr val="3B6FB0"/>
                </a:solidFill>
                <a:latin typeface="Consolas"/>
              </a:rPr>
              <a:t>   ui/</a:t>
            </a:r>
            <a:r>
              <a:rPr sz="1100">
                <a:solidFill>
                  <a:srgbClr val="6B7280"/>
                </a:solidFill>
                <a:latin typeface="Calibri"/>
              </a:rPr>
              <a:t>   primitives · button · modal · file-upload · read-aloud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03898"/>
            <a:ext cx="1042416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0">
                <a:solidFill>
                  <a:srgbClr val="3B6FB0"/>
                </a:solidFill>
                <a:latin typeface="Consolas"/>
              </a:rPr>
              <a:t>   layout/</a:t>
            </a:r>
            <a:r>
              <a:rPr sz="1100">
                <a:solidFill>
                  <a:srgbClr val="6B7280"/>
                </a:solidFill>
                <a:latin typeface="Calibri"/>
              </a:rPr>
              <a:t>   top-bar · sidebars · notifications · theme &amp; reading settings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64501"/>
            <a:ext cx="1042416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0">
                <a:solidFill>
                  <a:srgbClr val="3B6FB0"/>
                </a:solidFill>
                <a:latin typeface="Consolas"/>
              </a:rPr>
              <a:t>   brand · pet · scores/</a:t>
            </a:r>
            <a:r>
              <a:rPr sz="1100">
                <a:solidFill>
                  <a:srgbClr val="6B7280"/>
                </a:solidFill>
                <a:latin typeface="Calibri"/>
              </a:rPr>
              <a:t>   logo · pet-avatar · trophy shelf · trend pills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25104"/>
            <a:ext cx="1042416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300" b="1">
                <a:solidFill>
                  <a:srgbClr val="9E123C"/>
                </a:solidFill>
                <a:latin typeface="Consolas"/>
              </a:rPr>
              <a:t>lib/</a:t>
            </a:r>
            <a:r>
              <a:rPr sz="1150">
                <a:solidFill>
                  <a:srgbClr val="1F2937"/>
                </a:solidFill>
                <a:latin typeface="Calibri"/>
              </a:rPr>
              <a:t>   Business logic, data access &amp; server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13140"/>
            <a:ext cx="1042416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0">
                <a:solidFill>
                  <a:srgbClr val="3B6FB0"/>
                </a:solidFill>
                <a:latin typeface="Consolas"/>
              </a:rPr>
              <a:t>   queries.ts · db.ts</a:t>
            </a:r>
            <a:r>
              <a:rPr sz="1100">
                <a:solidFill>
                  <a:srgbClr val="6B7280"/>
                </a:solidFill>
                <a:latin typeface="Calibri"/>
              </a:rPr>
              <a:t>   main data layer + Prisma client singleton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73743"/>
            <a:ext cx="1042416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0">
                <a:solidFill>
                  <a:srgbClr val="3B6FB0"/>
                </a:solidFill>
                <a:latin typeface="Consolas"/>
              </a:rPr>
              <a:t>   pet · grades · due · preferences · themes</a:t>
            </a:r>
            <a:r>
              <a:rPr sz="1100">
                <a:solidFill>
                  <a:srgbClr val="6B7280"/>
                </a:solidFill>
                <a:latin typeface="Calibri"/>
              </a:rPr>
              <a:t>   domain rules &amp; derived values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34346"/>
            <a:ext cx="1042416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0">
                <a:solidFill>
                  <a:srgbClr val="3B6FB0"/>
                </a:solidFill>
                <a:latin typeface="Consolas"/>
              </a:rPr>
              <a:t>   daily-surprise · join-code · embed</a:t>
            </a:r>
            <a:r>
              <a:rPr sz="1100">
                <a:solidFill>
                  <a:srgbClr val="6B7280"/>
                </a:solidFill>
                <a:latin typeface="Calibri"/>
              </a:rPr>
              <a:t>   feature helpers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94949"/>
            <a:ext cx="1042416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0">
                <a:solidFill>
                  <a:srgbClr val="3B6FB0"/>
                </a:solidFill>
                <a:latin typeface="Consolas"/>
              </a:rPr>
              <a:t>   actions/</a:t>
            </a:r>
            <a:r>
              <a:rPr sz="1100">
                <a:solidFill>
                  <a:srgbClr val="6B7280"/>
                </a:solidFill>
                <a:latin typeface="Calibri"/>
              </a:rPr>
              <a:t>   lessons · preferences · theme mutations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55552"/>
            <a:ext cx="1042416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300" b="1">
                <a:solidFill>
                  <a:srgbClr val="9E123C"/>
                </a:solidFill>
                <a:latin typeface="Consolas"/>
              </a:rPr>
              <a:t>prisma/</a:t>
            </a:r>
            <a:r>
              <a:rPr sz="1150">
                <a:solidFill>
                  <a:srgbClr val="1F2937"/>
                </a:solidFill>
                <a:latin typeface="Calibri"/>
              </a:rPr>
              <a:t>   schema.prisma (12 models) + seed.ts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943588"/>
            <a:ext cx="1042416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300" b="1">
                <a:solidFill>
                  <a:srgbClr val="9E123C"/>
                </a:solidFill>
                <a:latin typeface="Consolas"/>
              </a:rPr>
              <a:t>types/</a:t>
            </a:r>
            <a:r>
              <a:rPr sz="1150">
                <a:solidFill>
                  <a:srgbClr val="1F2937"/>
                </a:solidFill>
                <a:latin typeface="Calibri"/>
              </a:rPr>
              <a:t>   NextAuth session/user type augmentation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CA3A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12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601200" y="-1097280"/>
            <a:ext cx="3840480" cy="3840480"/>
          </a:xfrm>
          <a:prstGeom prst="roundRect">
            <a:avLst>
              <a:gd name="adj" fmla="val 50000"/>
            </a:avLst>
          </a:prstGeom>
          <a:solidFill>
            <a:srgbClr val="6E0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14400" y="4754880"/>
            <a:ext cx="3291840" cy="3291840"/>
          </a:xfrm>
          <a:prstGeom prst="roundRect">
            <a:avLst>
              <a:gd name="adj" fmla="val 50000"/>
            </a:avLst>
          </a:prstGeom>
          <a:solidFill>
            <a:srgbClr val="6E0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9144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914400" cy="128016"/>
          </a:xfrm>
          <a:prstGeom prst="roundRect">
            <a:avLst>
              <a:gd name="adj" fmla="val 50000"/>
            </a:avLst>
          </a:prstGeom>
          <a:solidFill>
            <a:srgbClr val="F7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Every ability </a:t>
            </a:r>
            <a:r>
              <a:rPr sz="4400" b="1" i="0">
                <a:solidFill>
                  <a:srgbClr val="F7E4EA"/>
                </a:solidFill>
                <a:latin typeface="Calibri"/>
              </a:rPr>
              <a:t>leads the 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7E4EA"/>
                </a:solidFill>
                <a:latin typeface="Calibri"/>
              </a:rPr>
              <a:t>An accessible classroom where reading level, pace, or focus never stand between a student and learning.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inclusiveworld.vercel.app</a:t>
            </a:r>
            <a:r>
              <a:rPr sz="1400" b="0" i="0">
                <a:solidFill>
                  <a:srgbClr val="F7E4EA"/>
                </a:solidFill>
                <a:latin typeface="Calibri"/>
              </a:rPr>
              <a:t>     ·     Next.js 16 · React 19 · Prisma · Postgres · Vercel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